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ppt/notesSlides/notesSlide3.xml" ContentType="application/vnd.openxmlformats-officedocument.presentationml.notesSlide+xml"/>
  <Override PartName="/ppt/webextensions/webextension2.xml" ContentType="application/vnd.ms-office.webextension+xml"/>
  <Override PartName="/ppt/notesSlides/notesSlide4.xml" ContentType="application/vnd.openxmlformats-officedocument.presentationml.notesSlide+xml"/>
  <Override PartName="/ppt/webextensions/webextension3.xml" ContentType="application/vnd.ms-office.webextension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webextensions/webextension4.xml" ContentType="application/vnd.ms-office.webextension+xml"/>
  <Override PartName="/ppt/notesSlides/notesSlide6.xml" ContentType="application/vnd.openxmlformats-officedocument.presentationml.notesSlide+xml"/>
  <Override PartName="/ppt/webextensions/webextension5.xml" ContentType="application/vnd.ms-office.webextension+xml"/>
  <Override PartName="/ppt/notesSlides/notesSlide7.xml" ContentType="application/vnd.openxmlformats-officedocument.presentationml.notesSlide+xml"/>
  <Override PartName="/ppt/webextensions/webextension6.xml" ContentType="application/vnd.ms-office.webextension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7" r:id="rId4"/>
    <p:sldId id="272" r:id="rId5"/>
    <p:sldId id="258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70" r:id="rId14"/>
    <p:sldId id="263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932-4B0B-B024-943A7100B59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932-4B0B-B024-943A7100B59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932-4B0B-B024-943A7100B59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932-4B0B-B024-943A7100B59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932-4B0B-B024-943A7100B59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F932-4B0B-B024-943A7100B59D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GWB</c:v>
                </c:pt>
                <c:pt idx="1">
                  <c:v>Goethals</c:v>
                </c:pt>
                <c:pt idx="2">
                  <c:v>Lincoln</c:v>
                </c:pt>
                <c:pt idx="3">
                  <c:v>Holland</c:v>
                </c:pt>
                <c:pt idx="4">
                  <c:v>Outerbridge</c:v>
                </c:pt>
                <c:pt idx="5">
                  <c:v>Bayonne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20357720</c:v>
                </c:pt>
                <c:pt idx="1">
                  <c:v>7360247</c:v>
                </c:pt>
                <c:pt idx="2">
                  <c:v>7235265</c:v>
                </c:pt>
                <c:pt idx="3">
                  <c:v>6045941</c:v>
                </c:pt>
                <c:pt idx="4">
                  <c:v>5927596</c:v>
                </c:pt>
                <c:pt idx="5">
                  <c:v>1677863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00-40B4-94CF-D5E395A2F9D5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A2A6B-6CE8-4377-95AF-44551C155BD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AA327-85C2-44A1-8D6D-23B2AA89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4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Time-series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frecasts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project traffic volumes through April 2028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4370-0C4B-1275-86A6-14DA4D35B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E214C-053E-645A-D728-BD99239C0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93267-A844-9703-250D-4FE2EC7E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F6FB-50C8-46BD-BDBE-74E0D4E2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BCBA4-C29B-EB10-8C63-BF6B97AE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07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39BA-8296-A0DF-3BF5-3054F055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0AB8-0546-49B7-04BF-14276090B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3B814-17B0-E8CB-D660-C26590D1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AD1B-C7B6-5BD1-C95F-C09AF209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CCAEE-9DC4-C63D-8047-691197DD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3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796C-BA28-C04B-D3B6-1674E619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7D300-0C03-4C6D-4430-B05111687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660C6-84B6-4587-E577-4CD06E637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03F29-918B-60E9-5BEB-D1A320F5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8F509-D8AF-6684-7EA4-E1143ADB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2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F86B-35EB-5B1C-35DC-19F1A20A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F4B7-10D3-4574-68E4-22C990EDE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897CE-BC3F-857F-F81E-2BAE56782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3494E-562E-C9B5-3926-9CC7DC8F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C841-B58B-4E45-C3EC-0FAC03B9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391AA-D54B-935B-8C90-B69EFB3D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8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A0A0-95CC-136F-45E8-C1C1CF20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51BC2-2968-DEC9-39CE-47F145F99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E53DD-3139-B677-FE88-4AE14BD6B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B1B78-9DAF-19F0-0D89-1D4CDEE01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C4BAE-C0B1-5D62-68A7-09700F5B0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C1011-A42B-31A5-E7DA-2F90252A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8011A-3CEB-95C0-23BD-895B8DC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D4B0BC-FF39-0D9B-2069-4891DB10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7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2814-9A2F-AD5C-B032-790A0CE9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C37DA-CF14-C971-54F9-EF801D98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3BC96-5A3E-F364-C336-4B9969A30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B1C83-6A79-72CB-42FE-541E028A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7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5F305-8390-5F09-8121-5D4B1F3A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3CCF2-ECD2-E581-0409-FCE0E570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4A836-68BB-74C5-A956-4E853E5F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9E7F-663E-3C69-41D8-BF83775F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DEF57-A714-7604-4FFA-A41B2F5B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A1D25-3B66-6E18-85B0-2C9C24D49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047ED-09CE-2A02-05B0-83B6DC3E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1E175-502B-B662-8DB1-1E261AF9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AA3FC-AF73-79AD-A837-D7BB4C66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88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C6FC3-86CC-617A-49B1-47CBDA320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889C12-281A-8B1C-AD3C-B19679AA2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8FFC4-1306-CEEB-0428-0A290B951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BB8C6-62ED-2E51-6B41-9CCE648B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7D594-A9E6-EFB5-F0F8-010ADE66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9B3A2-0B88-79F2-216A-17302D30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5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648D-BD94-A874-1695-47D3F547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FA375-FCA5-5B4D-DC8F-6F98E963B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D2E9D-AF68-92FE-96DD-26AFC2D7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3371-A7E8-66A2-A699-F7183E4D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0A72C-029E-D722-00B6-6EDF479A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86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2EBFD-02CB-1171-4C37-13DEDEE23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206FF-0F59-F10F-ED7D-F1B2365E1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A9E6F-2309-650A-4386-94A73CDB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43C6-EDCF-0144-3FB5-B2DCF095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5D0CC-3F9A-1C92-6455-65424595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39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25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23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34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10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38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41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54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2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8A17A7-CA69-3153-3487-840F0CCA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65E6A-9C3C-6B0C-5DA1-4536208A0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F49E6-8898-727C-0BDE-16FA0B2C4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197A7-5A67-4783-B8E2-A685F78D0E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C252D-6CEA-81CA-C6DD-401E7FED5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C0BDC-5F27-C3F1-664A-239FF151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8BD66-40F9-41F4-A62B-54813823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4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v0-traffic-forecast-app-2.vercel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8781F1-5923-8883-AC93-957AD4F2B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472" y="6466530"/>
            <a:ext cx="1457528" cy="371527"/>
          </a:xfrm>
          <a:prstGeom prst="rect">
            <a:avLst/>
          </a:prstGeom>
        </p:spPr>
      </p:pic>
      <p:pic>
        <p:nvPicPr>
          <p:cNvPr id="12" name="Picture 11" descr="A city with tall buildings&#10;&#10;AI-generated content may be incorrect.">
            <a:extLst>
              <a:ext uri="{FF2B5EF4-FFF2-40B4-BE49-F238E27FC236}">
                <a16:creationId xmlns:a16="http://schemas.microsoft.com/office/drawing/2014/main" id="{48F4CA95-61FF-A4DB-5E49-33271863B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36" t="2621" r="23455"/>
          <a:stretch>
            <a:fillRect/>
          </a:stretch>
        </p:blipFill>
        <p:spPr>
          <a:xfrm>
            <a:off x="7649497" y="0"/>
            <a:ext cx="454250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726" y="577619"/>
            <a:ext cx="5406293" cy="157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8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Project Progress Report</a:t>
            </a:r>
            <a:endParaRPr lang="en-US" sz="4800" b="1" dirty="0"/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B49C1A51-0F5F-5BFF-8D1C-6DF9764E64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94" y="2529348"/>
            <a:ext cx="2249130" cy="1799304"/>
          </a:xfrm>
          <a:prstGeom prst="rect">
            <a:avLst/>
          </a:prstGeom>
        </p:spPr>
      </p:pic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C24B44C-70AD-6D85-90AE-786811A5CB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0" t="24946" r="11505" b="24731"/>
          <a:stretch>
            <a:fillRect/>
          </a:stretch>
        </p:blipFill>
        <p:spPr>
          <a:xfrm>
            <a:off x="3460449" y="2529348"/>
            <a:ext cx="3660123" cy="17993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E4592D-6A90-2818-A025-F1C1942A5427}"/>
              </a:ext>
            </a:extLst>
          </p:cNvPr>
          <p:cNvSpPr txBox="1"/>
          <p:nvPr/>
        </p:nvSpPr>
        <p:spPr>
          <a:xfrm>
            <a:off x="642563" y="4916129"/>
            <a:ext cx="64780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B1B27"/>
                </a:solidFill>
                <a:latin typeface="Raleway" pitchFamily="34" charset="0"/>
              </a:rPr>
              <a:t>Group 1: </a:t>
            </a:r>
            <a:r>
              <a:rPr lang="it-IT" sz="2000" dirty="0">
                <a:solidFill>
                  <a:srgbClr val="1B1B27"/>
                </a:solidFill>
                <a:latin typeface="Raleway" pitchFamily="34" charset="0"/>
              </a:rPr>
              <a:t>Giacomo Bizzotto, </a:t>
            </a:r>
            <a:r>
              <a:rPr lang="it-IT" sz="2000" dirty="0" err="1">
                <a:solidFill>
                  <a:srgbClr val="1B1B27"/>
                </a:solidFill>
                <a:latin typeface="Raleway" pitchFamily="34" charset="0"/>
              </a:rPr>
              <a:t>Anyuta</a:t>
            </a:r>
            <a:r>
              <a:rPr lang="it-IT" sz="2000" dirty="0">
                <a:solidFill>
                  <a:srgbClr val="1B1B27"/>
                </a:solidFill>
                <a:latin typeface="Raleway" pitchFamily="34" charset="0"/>
              </a:rPr>
              <a:t> </a:t>
            </a:r>
            <a:r>
              <a:rPr lang="it-IT" sz="2000" dirty="0" err="1">
                <a:solidFill>
                  <a:srgbClr val="1B1B27"/>
                </a:solidFill>
                <a:latin typeface="Raleway" pitchFamily="34" charset="0"/>
              </a:rPr>
              <a:t>Choudhary</a:t>
            </a:r>
            <a:r>
              <a:rPr lang="it-IT" sz="2000" dirty="0">
                <a:solidFill>
                  <a:srgbClr val="1B1B27"/>
                </a:solidFill>
                <a:latin typeface="Raleway" pitchFamily="34" charset="0"/>
              </a:rPr>
              <a:t>, Murali </a:t>
            </a:r>
            <a:r>
              <a:rPr lang="it-IT" sz="2000" dirty="0" err="1">
                <a:solidFill>
                  <a:srgbClr val="1B1B27"/>
                </a:solidFill>
                <a:latin typeface="Raleway" pitchFamily="34" charset="0"/>
              </a:rPr>
              <a:t>Bellapu,Naga</a:t>
            </a:r>
            <a:r>
              <a:rPr lang="it-IT" sz="2000" dirty="0">
                <a:solidFill>
                  <a:srgbClr val="1B1B27"/>
                </a:solidFill>
                <a:latin typeface="Raleway" pitchFamily="34" charset="0"/>
              </a:rPr>
              <a:t> Sai </a:t>
            </a:r>
            <a:r>
              <a:rPr lang="it-IT" sz="2000" dirty="0" err="1">
                <a:solidFill>
                  <a:srgbClr val="1B1B27"/>
                </a:solidFill>
                <a:latin typeface="Raleway" pitchFamily="34" charset="0"/>
              </a:rPr>
              <a:t>Harika</a:t>
            </a:r>
            <a:r>
              <a:rPr lang="it-IT" sz="2000" dirty="0">
                <a:solidFill>
                  <a:srgbClr val="1B1B27"/>
                </a:solidFill>
                <a:latin typeface="Raleway" pitchFamily="34" charset="0"/>
              </a:rPr>
              <a:t> </a:t>
            </a:r>
            <a:r>
              <a:rPr lang="it-IT" sz="2000" dirty="0" err="1">
                <a:solidFill>
                  <a:srgbClr val="1B1B27"/>
                </a:solidFill>
                <a:latin typeface="Raleway" pitchFamily="34" charset="0"/>
              </a:rPr>
              <a:t>Mangina</a:t>
            </a:r>
            <a:r>
              <a:rPr lang="it-IT" sz="2000" dirty="0">
                <a:solidFill>
                  <a:srgbClr val="1B1B27"/>
                </a:solidFill>
                <a:latin typeface="Raleway" pitchFamily="34" charset="0"/>
              </a:rPr>
              <a:t>, </a:t>
            </a:r>
            <a:r>
              <a:rPr lang="it-IT" sz="2000" dirty="0" err="1">
                <a:solidFill>
                  <a:srgbClr val="1B1B27"/>
                </a:solidFill>
                <a:latin typeface="Raleway" pitchFamily="34" charset="0"/>
              </a:rPr>
              <a:t>Sivaram</a:t>
            </a:r>
            <a:r>
              <a:rPr lang="it-IT" sz="2000" dirty="0">
                <a:solidFill>
                  <a:srgbClr val="1B1B27"/>
                </a:solidFill>
                <a:latin typeface="Raleway" pitchFamily="34" charset="0"/>
              </a:rPr>
              <a:t> </a:t>
            </a:r>
            <a:r>
              <a:rPr lang="it-IT" sz="2000" dirty="0" err="1">
                <a:solidFill>
                  <a:srgbClr val="1B1B27"/>
                </a:solidFill>
                <a:latin typeface="Raleway" pitchFamily="34" charset="0"/>
              </a:rPr>
              <a:t>Vangavolu</a:t>
            </a:r>
            <a:endParaRPr lang="en-US" sz="2000" dirty="0">
              <a:solidFill>
                <a:srgbClr val="1B1B27"/>
              </a:solidFill>
              <a:latin typeface="Raleway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150" y="708224"/>
            <a:ext cx="10166449" cy="62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75"/>
              </a:lnSpc>
            </a:pPr>
            <a:r>
              <a:rPr lang="en-US" sz="391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 1: Top Five Factors Affecting Usage</a:t>
            </a:r>
            <a:endParaRPr lang="en-US" sz="3917" dirty="0"/>
          </a:p>
        </p:txBody>
      </p:sp>
      <p:sp>
        <p:nvSpPr>
          <p:cNvPr id="3" name="Text 1"/>
          <p:cNvSpPr/>
          <p:nvPr/>
        </p:nvSpPr>
        <p:spPr>
          <a:xfrm>
            <a:off x="654149" y="1730375"/>
            <a:ext cx="1088360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analysis identified the most significant drivers of traffic levels across Port Authority facilities, crucial for operational planning.</a:t>
            </a:r>
            <a:endParaRPr lang="en-US" sz="1542" dirty="0"/>
          </a:p>
        </p:txBody>
      </p:sp>
      <p:sp>
        <p:nvSpPr>
          <p:cNvPr id="4" name="Shape 2"/>
          <p:cNvSpPr/>
          <p:nvPr/>
        </p:nvSpPr>
        <p:spPr>
          <a:xfrm>
            <a:off x="654150" y="2592884"/>
            <a:ext cx="3494881" cy="1838226"/>
          </a:xfrm>
          <a:prstGeom prst="roundRect">
            <a:avLst>
              <a:gd name="adj" fmla="val 663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28749" y="2592884"/>
            <a:ext cx="101600" cy="1838226"/>
          </a:xfrm>
          <a:prstGeom prst="roundRect">
            <a:avLst>
              <a:gd name="adj" fmla="val 824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955180" y="2817714"/>
            <a:ext cx="2493169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Facility</a:t>
            </a:r>
            <a:endParaRPr lang="en-US" sz="1958" dirty="0"/>
          </a:p>
        </p:txBody>
      </p:sp>
      <p:sp>
        <p:nvSpPr>
          <p:cNvPr id="7" name="Text 5"/>
          <p:cNvSpPr/>
          <p:nvPr/>
        </p:nvSpPr>
        <p:spPr>
          <a:xfrm>
            <a:off x="955179" y="3249018"/>
            <a:ext cx="296902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Characteristics, location, and capacity of each bridge or tunnel.</a:t>
            </a:r>
            <a:endParaRPr lang="en-US" sz="1542" dirty="0"/>
          </a:p>
        </p:txBody>
      </p:sp>
      <p:sp>
        <p:nvSpPr>
          <p:cNvPr id="8" name="Shape 6"/>
          <p:cNvSpPr/>
          <p:nvPr/>
        </p:nvSpPr>
        <p:spPr>
          <a:xfrm>
            <a:off x="4348460" y="2592884"/>
            <a:ext cx="3494881" cy="1838226"/>
          </a:xfrm>
          <a:prstGeom prst="roundRect">
            <a:avLst>
              <a:gd name="adj" fmla="val 663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323060" y="2592884"/>
            <a:ext cx="101600" cy="1838226"/>
          </a:xfrm>
          <a:prstGeom prst="roundRect">
            <a:avLst>
              <a:gd name="adj" fmla="val 824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4649491" y="2817714"/>
            <a:ext cx="2493169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Week of the Year</a:t>
            </a:r>
            <a:endParaRPr lang="en-US" sz="1958" dirty="0"/>
          </a:p>
        </p:txBody>
      </p:sp>
      <p:sp>
        <p:nvSpPr>
          <p:cNvPr id="11" name="Text 9"/>
          <p:cNvSpPr/>
          <p:nvPr/>
        </p:nvSpPr>
        <p:spPr>
          <a:xfrm>
            <a:off x="4649490" y="3249018"/>
            <a:ext cx="2969022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Broader seasonal cycles, including tourism and weather changes.</a:t>
            </a:r>
            <a:endParaRPr lang="en-US" sz="1542" dirty="0"/>
          </a:p>
        </p:txBody>
      </p:sp>
      <p:sp>
        <p:nvSpPr>
          <p:cNvPr id="12" name="Shape 10"/>
          <p:cNvSpPr/>
          <p:nvPr/>
        </p:nvSpPr>
        <p:spPr>
          <a:xfrm>
            <a:off x="8042771" y="2592884"/>
            <a:ext cx="3494881" cy="1838226"/>
          </a:xfrm>
          <a:prstGeom prst="roundRect">
            <a:avLst>
              <a:gd name="adj" fmla="val 663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8017371" y="2592884"/>
            <a:ext cx="101600" cy="1838226"/>
          </a:xfrm>
          <a:prstGeom prst="roundRect">
            <a:avLst>
              <a:gd name="adj" fmla="val 824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343801" y="2817714"/>
            <a:ext cx="2493169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Holiday Status</a:t>
            </a:r>
            <a:endParaRPr lang="en-US" sz="1958" dirty="0"/>
          </a:p>
        </p:txBody>
      </p:sp>
      <p:sp>
        <p:nvSpPr>
          <p:cNvPr id="15" name="Text 13"/>
          <p:cNvSpPr/>
          <p:nvPr/>
        </p:nvSpPr>
        <p:spPr>
          <a:xfrm>
            <a:off x="8343801" y="3249018"/>
            <a:ext cx="2969022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Alters commuting: reduced work travel, increased leisure movements.</a:t>
            </a:r>
            <a:endParaRPr lang="en-US" sz="1542" dirty="0"/>
          </a:p>
        </p:txBody>
      </p:sp>
      <p:sp>
        <p:nvSpPr>
          <p:cNvPr id="16" name="Shape 14"/>
          <p:cNvSpPr/>
          <p:nvPr/>
        </p:nvSpPr>
        <p:spPr>
          <a:xfrm>
            <a:off x="654150" y="4630539"/>
            <a:ext cx="3494881" cy="1519138"/>
          </a:xfrm>
          <a:prstGeom prst="roundRect">
            <a:avLst>
              <a:gd name="adj" fmla="val 802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7" name="Shape 15"/>
          <p:cNvSpPr/>
          <p:nvPr/>
        </p:nvSpPr>
        <p:spPr>
          <a:xfrm>
            <a:off x="628749" y="4630539"/>
            <a:ext cx="101600" cy="1519138"/>
          </a:xfrm>
          <a:prstGeom prst="roundRect">
            <a:avLst>
              <a:gd name="adj" fmla="val 824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955180" y="4855370"/>
            <a:ext cx="2493169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Month</a:t>
            </a:r>
            <a:endParaRPr lang="en-US" sz="1958" dirty="0"/>
          </a:p>
        </p:txBody>
      </p:sp>
      <p:sp>
        <p:nvSpPr>
          <p:cNvPr id="19" name="Text 17"/>
          <p:cNvSpPr/>
          <p:nvPr/>
        </p:nvSpPr>
        <p:spPr>
          <a:xfrm>
            <a:off x="955179" y="5286673"/>
            <a:ext cx="296902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additional monthly seasonality context.</a:t>
            </a:r>
            <a:endParaRPr lang="en-US" sz="1542" dirty="0"/>
          </a:p>
        </p:txBody>
      </p:sp>
      <p:sp>
        <p:nvSpPr>
          <p:cNvPr id="20" name="Shape 18"/>
          <p:cNvSpPr/>
          <p:nvPr/>
        </p:nvSpPr>
        <p:spPr>
          <a:xfrm>
            <a:off x="4348460" y="4630539"/>
            <a:ext cx="3494881" cy="1519138"/>
          </a:xfrm>
          <a:prstGeom prst="roundRect">
            <a:avLst>
              <a:gd name="adj" fmla="val 802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4323060" y="4630539"/>
            <a:ext cx="101600" cy="1519138"/>
          </a:xfrm>
          <a:prstGeom prst="roundRect">
            <a:avLst>
              <a:gd name="adj" fmla="val 824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4649491" y="4855370"/>
            <a:ext cx="2493169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Day</a:t>
            </a:r>
            <a:endParaRPr lang="en-US" sz="1958" dirty="0"/>
          </a:p>
        </p:txBody>
      </p:sp>
      <p:sp>
        <p:nvSpPr>
          <p:cNvPr id="23" name="Text 21"/>
          <p:cNvSpPr/>
          <p:nvPr/>
        </p:nvSpPr>
        <p:spPr>
          <a:xfrm>
            <a:off x="4649490" y="5286673"/>
            <a:ext cx="296902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daily traffic fluctuations and calendar effects.</a:t>
            </a:r>
            <a:endParaRPr lang="en-US" sz="1542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E4EF430-554F-32BA-7AD6-178518CC2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472" y="6466530"/>
            <a:ext cx="1457528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3705BB7-0BE2-5D06-E7B6-E3C5C92811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33260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3705BB7-0BE2-5D06-E7B6-E3C5C92811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203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149" y="809824"/>
            <a:ext cx="5320010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Toll Violations Analysis</a:t>
            </a:r>
            <a:endParaRPr lang="en-US" sz="4042" dirty="0"/>
          </a:p>
        </p:txBody>
      </p:sp>
      <p:sp>
        <p:nvSpPr>
          <p:cNvPr id="3" name="Text 1"/>
          <p:cNvSpPr/>
          <p:nvPr/>
        </p:nvSpPr>
        <p:spPr>
          <a:xfrm>
            <a:off x="654149" y="1864221"/>
            <a:ext cx="1088360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patterns from 2013-2024 toll violation data.</a:t>
            </a:r>
            <a:endParaRPr lang="en-US" sz="1583" dirty="0"/>
          </a:p>
        </p:txBody>
      </p:sp>
      <p:sp>
        <p:nvSpPr>
          <p:cNvPr id="4" name="Text 2"/>
          <p:cNvSpPr/>
          <p:nvPr/>
        </p:nvSpPr>
        <p:spPr>
          <a:xfrm>
            <a:off x="654150" y="2630488"/>
            <a:ext cx="320238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Violations (2013-2024)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4149" y="3157637"/>
            <a:ext cx="5190828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125"/>
              </a:lnSpc>
            </a:pPr>
            <a:r>
              <a:rPr lang="en-US" sz="8083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81.1 Million</a:t>
            </a:r>
            <a:endParaRPr lang="en-US" sz="8083" dirty="0"/>
          </a:p>
        </p:txBody>
      </p:sp>
      <p:sp>
        <p:nvSpPr>
          <p:cNvPr id="6" name="Text 4"/>
          <p:cNvSpPr/>
          <p:nvPr/>
        </p:nvSpPr>
        <p:spPr>
          <a:xfrm>
            <a:off x="654149" y="4649193"/>
            <a:ext cx="519082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financial &amp; operational challenge.</a:t>
            </a:r>
            <a:endParaRPr lang="en-US" sz="1583" dirty="0"/>
          </a:p>
        </p:txBody>
      </p:sp>
      <p:sp>
        <p:nvSpPr>
          <p:cNvPr id="7" name="Text 5"/>
          <p:cNvSpPr/>
          <p:nvPr/>
        </p:nvSpPr>
        <p:spPr>
          <a:xfrm>
            <a:off x="6353175" y="2630488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Trends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53175" y="3157637"/>
            <a:ext cx="519082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1583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Surge (2019-2020):</a:t>
            </a: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Sharp increase, peaking mid-2020.</a:t>
            </a:r>
            <a:endParaRPr lang="en-US" sz="1583" dirty="0"/>
          </a:p>
        </p:txBody>
      </p:sp>
      <p:sp>
        <p:nvSpPr>
          <p:cNvPr id="9" name="Text 7"/>
          <p:cNvSpPr/>
          <p:nvPr/>
        </p:nvSpPr>
        <p:spPr>
          <a:xfrm>
            <a:off x="6353175" y="3624836"/>
            <a:ext cx="519082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1583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Post-2020:</a:t>
            </a: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Levels remain high vs. pre-2019.</a:t>
            </a:r>
            <a:endParaRPr lang="en-US" sz="1583" dirty="0"/>
          </a:p>
        </p:txBody>
      </p:sp>
      <p:sp>
        <p:nvSpPr>
          <p:cNvPr id="10" name="Text 8"/>
          <p:cNvSpPr/>
          <p:nvPr/>
        </p:nvSpPr>
        <p:spPr>
          <a:xfrm>
            <a:off x="6346924" y="4092035"/>
            <a:ext cx="519082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1583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Peaks:</a:t>
            </a: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6 AM - 6 PM (peak traffic).</a:t>
            </a:r>
            <a:endParaRPr lang="en-US" sz="1583" dirty="0"/>
          </a:p>
        </p:txBody>
      </p:sp>
      <p:sp>
        <p:nvSpPr>
          <p:cNvPr id="11" name="Text 9"/>
          <p:cNvSpPr/>
          <p:nvPr/>
        </p:nvSpPr>
        <p:spPr>
          <a:xfrm>
            <a:off x="6346924" y="4559234"/>
            <a:ext cx="519082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1583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Facilities:</a:t>
            </a: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Holland Tunnel, GWB (PIP &amp; Upper).</a:t>
            </a:r>
            <a:endParaRPr lang="en-US" sz="1583" dirty="0"/>
          </a:p>
        </p:txBody>
      </p:sp>
      <p:sp>
        <p:nvSpPr>
          <p:cNvPr id="12" name="Text 10"/>
          <p:cNvSpPr/>
          <p:nvPr/>
        </p:nvSpPr>
        <p:spPr>
          <a:xfrm>
            <a:off x="6353175" y="5204620"/>
            <a:ext cx="519082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Recommendation:</a:t>
            </a: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Focus enforcement on high-violation facilities and peak hours.</a:t>
            </a:r>
            <a:endParaRPr lang="en-US" sz="1583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E005AB-8D19-BE06-6DD9-D0EF64ED1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472" y="6466530"/>
            <a:ext cx="1457528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437D-B73B-0397-D5CD-82E6AC46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8EC46889-1AED-FD0E-BA21-FA2C9425762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8EC46889-1AED-FD0E-BA21-FA2C942576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430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149" y="456244"/>
            <a:ext cx="7118152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42"/>
              </a:lnSpc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 3: Busiest Times &amp; Impact of Key Factors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4150" y="1318220"/>
            <a:ext cx="1088331" cy="989807"/>
          </a:xfrm>
          <a:prstGeom prst="roundRect">
            <a:avLst>
              <a:gd name="adj" fmla="val 527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1110854" y="1703785"/>
            <a:ext cx="17482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37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75" dirty="0"/>
          </a:p>
        </p:txBody>
      </p:sp>
      <p:sp>
        <p:nvSpPr>
          <p:cNvPr id="6" name="Text 4"/>
          <p:cNvSpPr/>
          <p:nvPr/>
        </p:nvSpPr>
        <p:spPr>
          <a:xfrm>
            <a:off x="1804591" y="1811737"/>
            <a:ext cx="9670951" cy="421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Peak Hours: 6am – 6pm with e</a:t>
            </a:r>
            <a:r>
              <a:rPr lang="en-US" sz="2400" dirty="0">
                <a:solidFill>
                  <a:srgbClr val="3C3939"/>
                </a:solidFill>
                <a:latin typeface="Raleway" pitchFamily="34" charset="0"/>
              </a:rPr>
              <a:t>vening Peak: 4-6 PM</a:t>
            </a:r>
          </a:p>
          <a:p>
            <a:pPr>
              <a:lnSpc>
                <a:spcPts val="1500"/>
              </a:lnSpc>
            </a:pP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66801" y="1984871"/>
            <a:ext cx="2443957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542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04591" y="2304852"/>
            <a:ext cx="9671050" cy="6350"/>
          </a:xfrm>
          <a:prstGeom prst="roundRect">
            <a:avLst>
              <a:gd name="adj" fmla="val 82251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654150" y="2370137"/>
            <a:ext cx="2176661" cy="989807"/>
          </a:xfrm>
          <a:prstGeom prst="roundRect">
            <a:avLst>
              <a:gd name="adj" fmla="val 527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1655069" y="2755702"/>
            <a:ext cx="17482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37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75" dirty="0"/>
          </a:p>
        </p:txBody>
      </p:sp>
      <p:sp>
        <p:nvSpPr>
          <p:cNvPr id="12" name="Text 10"/>
          <p:cNvSpPr/>
          <p:nvPr/>
        </p:nvSpPr>
        <p:spPr>
          <a:xfrm>
            <a:off x="2918222" y="2862264"/>
            <a:ext cx="8557418" cy="52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Busiest Day: </a:t>
            </a:r>
            <a:r>
              <a:rPr lang="en-US" sz="2400" dirty="0">
                <a:solidFill>
                  <a:srgbClr val="3C3939"/>
                </a:solidFill>
                <a:latin typeface="Raleway" pitchFamily="34" charset="0"/>
              </a:rPr>
              <a:t>Friday (~0.31M vehicles)</a:t>
            </a:r>
          </a:p>
          <a:p>
            <a:pPr>
              <a:lnSpc>
                <a:spcPts val="1500"/>
              </a:lnSpc>
            </a:pP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955132" y="3036789"/>
            <a:ext cx="156368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92921" y="3356769"/>
            <a:ext cx="8582719" cy="6350"/>
          </a:xfrm>
          <a:prstGeom prst="roundRect">
            <a:avLst>
              <a:gd name="adj" fmla="val 82251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654149" y="3422055"/>
            <a:ext cx="3264992" cy="989807"/>
          </a:xfrm>
          <a:prstGeom prst="roundRect">
            <a:avLst>
              <a:gd name="adj" fmla="val 527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2199184" y="3807620"/>
            <a:ext cx="17482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37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75" dirty="0"/>
          </a:p>
        </p:txBody>
      </p:sp>
      <p:sp>
        <p:nvSpPr>
          <p:cNvPr id="18" name="Text 16"/>
          <p:cNvSpPr/>
          <p:nvPr/>
        </p:nvSpPr>
        <p:spPr>
          <a:xfrm>
            <a:off x="3981252" y="3916909"/>
            <a:ext cx="7952158" cy="165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Peak Months: </a:t>
            </a:r>
            <a:r>
              <a:rPr lang="en-US" sz="2400" dirty="0">
                <a:solidFill>
                  <a:srgbClr val="3C3939"/>
                </a:solidFill>
                <a:latin typeface="Raleway" pitchFamily="34" charset="0"/>
              </a:rPr>
              <a:t>July, Aug, Oct: &gt;10M vehicles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981252" y="4408686"/>
            <a:ext cx="7494389" cy="6350"/>
          </a:xfrm>
          <a:prstGeom prst="roundRect">
            <a:avLst>
              <a:gd name="adj" fmla="val 82251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654150" y="4473972"/>
            <a:ext cx="4353421" cy="989807"/>
          </a:xfrm>
          <a:prstGeom prst="roundRect">
            <a:avLst>
              <a:gd name="adj" fmla="val 527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2743399" y="4859536"/>
            <a:ext cx="17482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37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75" dirty="0"/>
          </a:p>
        </p:txBody>
      </p:sp>
      <p:sp>
        <p:nvSpPr>
          <p:cNvPr id="24" name="Text 22"/>
          <p:cNvSpPr/>
          <p:nvPr/>
        </p:nvSpPr>
        <p:spPr>
          <a:xfrm>
            <a:off x="5069682" y="4968825"/>
            <a:ext cx="6405959" cy="28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Toll Violations: Highly correlates with traffic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069682" y="5460603"/>
            <a:ext cx="6405959" cy="6350"/>
          </a:xfrm>
          <a:prstGeom prst="roundRect">
            <a:avLst>
              <a:gd name="adj" fmla="val 82251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8" name="Shape 26"/>
          <p:cNvSpPr/>
          <p:nvPr/>
        </p:nvSpPr>
        <p:spPr>
          <a:xfrm>
            <a:off x="654149" y="5525889"/>
            <a:ext cx="5441752" cy="989807"/>
          </a:xfrm>
          <a:prstGeom prst="roundRect">
            <a:avLst>
              <a:gd name="adj" fmla="val 527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3287614" y="5911454"/>
            <a:ext cx="174823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37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375" dirty="0"/>
          </a:p>
        </p:txBody>
      </p:sp>
      <p:sp>
        <p:nvSpPr>
          <p:cNvPr id="30" name="Text 28"/>
          <p:cNvSpPr/>
          <p:nvPr/>
        </p:nvSpPr>
        <p:spPr>
          <a:xfrm>
            <a:off x="6207916" y="6025282"/>
            <a:ext cx="5255320" cy="549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Holidays: Reduce commuter traffic </a:t>
            </a:r>
            <a:endParaRPr lang="en-US" sz="2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3DE451C-2048-EF6C-B00E-EE1B8FE75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472" y="6466530"/>
            <a:ext cx="1457528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CDBB-23D9-6F2E-E6BF-EF9310CA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BE5B2682-6780-48B9-1F2E-403DD20E834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BE5B2682-6780-48B9-1F2E-403DD20E83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036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149" y="627481"/>
            <a:ext cx="1076126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 4: Congestion Due to Pricing in 2025</a:t>
            </a:r>
            <a:endParaRPr lang="en-US" sz="4042" dirty="0"/>
          </a:p>
        </p:txBody>
      </p:sp>
      <p:sp>
        <p:nvSpPr>
          <p:cNvPr id="3" name="Text 1"/>
          <p:cNvSpPr/>
          <p:nvPr/>
        </p:nvSpPr>
        <p:spPr>
          <a:xfrm>
            <a:off x="654198" y="1433414"/>
            <a:ext cx="1088360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Measuring 2025 pricing effects was challenging due to data limits, but inferential analysis provides insights.</a:t>
            </a:r>
            <a:endParaRPr lang="en-US" sz="1583" dirty="0"/>
          </a:p>
        </p:txBody>
      </p:sp>
      <p:sp>
        <p:nvSpPr>
          <p:cNvPr id="4" name="Text 2"/>
          <p:cNvSpPr/>
          <p:nvPr/>
        </p:nvSpPr>
        <p:spPr>
          <a:xfrm>
            <a:off x="654149" y="2303036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4149" y="2772697"/>
            <a:ext cx="632936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clear driver diversion from tolled facilities due to pricing.</a:t>
            </a:r>
            <a:endParaRPr lang="en-US" sz="1583" dirty="0"/>
          </a:p>
        </p:txBody>
      </p:sp>
      <p:sp>
        <p:nvSpPr>
          <p:cNvPr id="6" name="Text 4"/>
          <p:cNvSpPr/>
          <p:nvPr/>
        </p:nvSpPr>
        <p:spPr>
          <a:xfrm>
            <a:off x="654149" y="3173838"/>
            <a:ext cx="632936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GWB remains the primary traffic corridor and top revenue generator.</a:t>
            </a:r>
            <a:endParaRPr lang="en-US" sz="1583" dirty="0"/>
          </a:p>
        </p:txBody>
      </p:sp>
      <p:sp>
        <p:nvSpPr>
          <p:cNvPr id="7" name="Text 5"/>
          <p:cNvSpPr/>
          <p:nvPr/>
        </p:nvSpPr>
        <p:spPr>
          <a:xfrm>
            <a:off x="654149" y="3904187"/>
            <a:ext cx="632936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158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violations correlate with heavy traffic, not revenue shifts.</a:t>
            </a:r>
            <a:endParaRPr lang="en-US" sz="1583" dirty="0"/>
          </a:p>
        </p:txBody>
      </p:sp>
      <p:sp>
        <p:nvSpPr>
          <p:cNvPr id="9" name="Text 7"/>
          <p:cNvSpPr/>
          <p:nvPr/>
        </p:nvSpPr>
        <p:spPr>
          <a:xfrm>
            <a:off x="6983512" y="2303036"/>
            <a:ext cx="4405322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Breakdown (Jan-May 2025)</a:t>
            </a:r>
            <a:endParaRPr lang="en-US" sz="2000" dirty="0"/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C9BB0206-D081-7931-3A55-6851BCC40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030953"/>
              </p:ext>
            </p:extLst>
          </p:nvPr>
        </p:nvGraphicFramePr>
        <p:xfrm>
          <a:off x="6983512" y="2772697"/>
          <a:ext cx="4503645" cy="3457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56EB39B9-DC6D-CAEB-8EE0-FF779769F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4472" y="6466530"/>
            <a:ext cx="1457528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1E4DD-C356-7700-5A91-D75559D6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14949364-472E-2DEE-4FD9-F88AF185DD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14949364-472E-2DEE-4FD9-F88AF185DD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9177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624" y="430429"/>
            <a:ext cx="11303063" cy="702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 5: Forecasting Facility Usage Beyond 2025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86376" y="1613022"/>
            <a:ext cx="19050" cy="5146675"/>
          </a:xfrm>
          <a:prstGeom prst="roundRect">
            <a:avLst>
              <a:gd name="adj" fmla="val 2822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858967" y="1747463"/>
            <a:ext cx="255984" cy="19050"/>
          </a:xfrm>
          <a:prstGeom prst="roundRect">
            <a:avLst>
              <a:gd name="adj" fmla="val 2822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047929" y="1709016"/>
            <a:ext cx="95944" cy="95944"/>
          </a:xfrm>
          <a:prstGeom prst="roundRect">
            <a:avLst>
              <a:gd name="adj" fmla="val 3971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3983335" y="1656976"/>
            <a:ext cx="16004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42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Lincoln Tunnel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4149" y="1933797"/>
            <a:ext cx="49296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83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Usage: ≈ 2.75M/month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76851" y="2515516"/>
            <a:ext cx="255984" cy="19050"/>
          </a:xfrm>
          <a:prstGeom prst="roundRect">
            <a:avLst>
              <a:gd name="adj" fmla="val 2822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6047929" y="2477069"/>
            <a:ext cx="95944" cy="95944"/>
          </a:xfrm>
          <a:prstGeom prst="roundRect">
            <a:avLst>
              <a:gd name="adj" fmla="val 3971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607969" y="2425028"/>
            <a:ext cx="16004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GWB Upper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07969" y="2701849"/>
            <a:ext cx="49297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High, Stable: ≈ 2.4M/month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8967" y="3177603"/>
            <a:ext cx="255984" cy="19050"/>
          </a:xfrm>
          <a:prstGeom prst="roundRect">
            <a:avLst>
              <a:gd name="adj" fmla="val 2822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6047929" y="3139156"/>
            <a:ext cx="95944" cy="95944"/>
          </a:xfrm>
          <a:prstGeom prst="roundRect">
            <a:avLst>
              <a:gd name="adj" fmla="val 3971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3983335" y="3087115"/>
            <a:ext cx="16004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42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Holland Tunnel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4149" y="3363935"/>
            <a:ext cx="49296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83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Consistently High: ≈ 1.75M/month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76851" y="3839689"/>
            <a:ext cx="255984" cy="19050"/>
          </a:xfrm>
          <a:prstGeom prst="roundRect">
            <a:avLst>
              <a:gd name="adj" fmla="val 2822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6047929" y="3801242"/>
            <a:ext cx="95944" cy="95944"/>
          </a:xfrm>
          <a:prstGeom prst="roundRect">
            <a:avLst>
              <a:gd name="adj" fmla="val 3971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607969" y="3749202"/>
            <a:ext cx="16004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GWB Lower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07969" y="4026022"/>
            <a:ext cx="49297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Stable: ≈ 1.5M/month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58967" y="4501776"/>
            <a:ext cx="255984" cy="19050"/>
          </a:xfrm>
          <a:prstGeom prst="roundRect">
            <a:avLst>
              <a:gd name="adj" fmla="val 2822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6047929" y="4463329"/>
            <a:ext cx="95944" cy="95944"/>
          </a:xfrm>
          <a:prstGeom prst="roundRect">
            <a:avLst>
              <a:gd name="adj" fmla="val 3971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3983335" y="4411288"/>
            <a:ext cx="16004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42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Goethals Bridge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4149" y="4688109"/>
            <a:ext cx="49296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83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Moderate, Steady: ≈ 1.25M/month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76851" y="5163863"/>
            <a:ext cx="255984" cy="19050"/>
          </a:xfrm>
          <a:prstGeom prst="roundRect">
            <a:avLst>
              <a:gd name="adj" fmla="val 2822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6" name="Shape 24"/>
          <p:cNvSpPr/>
          <p:nvPr/>
        </p:nvSpPr>
        <p:spPr>
          <a:xfrm>
            <a:off x="6047929" y="5125416"/>
            <a:ext cx="95944" cy="95944"/>
          </a:xfrm>
          <a:prstGeom prst="roundRect">
            <a:avLst>
              <a:gd name="adj" fmla="val 3971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6607969" y="5073375"/>
            <a:ext cx="16004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Outerbridge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607969" y="5350196"/>
            <a:ext cx="49297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Low-to-Moderate: ≈ 1.0M/month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58967" y="5825949"/>
            <a:ext cx="255984" cy="19050"/>
          </a:xfrm>
          <a:prstGeom prst="roundRect">
            <a:avLst>
              <a:gd name="adj" fmla="val 2822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0" name="Shape 28"/>
          <p:cNvSpPr/>
          <p:nvPr/>
        </p:nvSpPr>
        <p:spPr>
          <a:xfrm>
            <a:off x="6047929" y="5787503"/>
            <a:ext cx="95944" cy="95944"/>
          </a:xfrm>
          <a:prstGeom prst="roundRect">
            <a:avLst>
              <a:gd name="adj" fmla="val 3971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1" name="Text 29"/>
          <p:cNvSpPr/>
          <p:nvPr/>
        </p:nvSpPr>
        <p:spPr>
          <a:xfrm>
            <a:off x="3983335" y="5735462"/>
            <a:ext cx="16004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42"/>
              </a:lnSpc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Bayonne Bridge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54149" y="6012283"/>
            <a:ext cx="4929683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83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Lowest Usage: ≈ 0.35M/month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C1170C9-ADF9-9CD4-115E-3B0B1F11C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472" y="6466530"/>
            <a:ext cx="1457528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A645-F979-7882-FA93-F2F8E981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CECA315-ECCA-674E-F88B-9A05D643B6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CECA315-ECCA-674E-F88B-9A05D643B6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2759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149" y="441323"/>
            <a:ext cx="5419031" cy="50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3125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On-Demand Traffic Forecasts</a:t>
            </a:r>
            <a:endParaRPr lang="en-US" sz="3125" dirty="0"/>
          </a:p>
        </p:txBody>
      </p:sp>
      <p:sp>
        <p:nvSpPr>
          <p:cNvPr id="3" name="Text 1"/>
          <p:cNvSpPr/>
          <p:nvPr/>
        </p:nvSpPr>
        <p:spPr>
          <a:xfrm>
            <a:off x="654149" y="1156755"/>
            <a:ext cx="10883603" cy="36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Dynamic, date-specific traffic forecasts via an intuitive web application. No technical expertise required.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07" y="1734507"/>
            <a:ext cx="1629089" cy="16290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9099" y="3577476"/>
            <a:ext cx="2006104" cy="25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Intuitive Interface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85057" y="4042080"/>
            <a:ext cx="3494187" cy="51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predictions for any future date with ease.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815" y="1734508"/>
            <a:ext cx="1629089" cy="16290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0129" y="3577476"/>
            <a:ext cx="2006104" cy="25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Extended Horizons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348906" y="4042081"/>
            <a:ext cx="3494187" cy="51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long-term insights and run operational scenarios.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023" y="1734507"/>
            <a:ext cx="1629089" cy="16290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17515" y="3577476"/>
            <a:ext cx="2006104" cy="25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Insights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073473" y="4042079"/>
            <a:ext cx="3494187" cy="51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insights without technical expertise or code.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7EE354-4994-4BFE-2915-5DE872590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4472" y="6466530"/>
            <a:ext cx="1457528" cy="371527"/>
          </a:xfrm>
          <a:prstGeom prst="rect">
            <a:avLst/>
          </a:prstGeom>
        </p:spPr>
      </p:pic>
      <p:sp>
        <p:nvSpPr>
          <p:cNvPr id="14" name="TextBox 13">
            <a:hlinkClick r:id="rId7"/>
            <a:extLst>
              <a:ext uri="{FF2B5EF4-FFF2-40B4-BE49-F238E27FC236}">
                <a16:creationId xmlns:a16="http://schemas.microsoft.com/office/drawing/2014/main" id="{BF1FD41F-B5E9-1E40-46D0-9C3638AD2608}"/>
              </a:ext>
            </a:extLst>
          </p:cNvPr>
          <p:cNvSpPr txBox="1"/>
          <p:nvPr/>
        </p:nvSpPr>
        <p:spPr>
          <a:xfrm>
            <a:off x="1956608" y="5265296"/>
            <a:ext cx="8039502" cy="70788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CLICK HERE TO ACCESS THE 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E6BF-6C28-E12D-F2B6-1796D22B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D183C7C5-EB0C-E7D0-CC7D-23A820DD9F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3857750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D183C7C5-EB0C-E7D0-CC7D-23A820DD9F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7045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149" y="469306"/>
            <a:ext cx="9388773" cy="53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67"/>
              </a:lnSpc>
            </a:pPr>
            <a:r>
              <a:rPr lang="en-US" sz="3333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Recommendations: Strategic Path Forward</a:t>
            </a:r>
            <a:endParaRPr lang="en-US" sz="3333" dirty="0"/>
          </a:p>
        </p:txBody>
      </p:sp>
      <p:sp>
        <p:nvSpPr>
          <p:cNvPr id="3" name="Text 1"/>
          <p:cNvSpPr/>
          <p:nvPr/>
        </p:nvSpPr>
        <p:spPr>
          <a:xfrm>
            <a:off x="654149" y="1338957"/>
            <a:ext cx="1088360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analysis provides key recommendations for optimizing operations, enhancing planning, and embracing data-driven strategies.</a:t>
            </a:r>
            <a:endParaRPr lang="en-US" sz="1333" dirty="0"/>
          </a:p>
        </p:txBody>
      </p:sp>
      <p:sp>
        <p:nvSpPr>
          <p:cNvPr id="4" name="Shape 2"/>
          <p:cNvSpPr/>
          <p:nvPr/>
        </p:nvSpPr>
        <p:spPr>
          <a:xfrm>
            <a:off x="654149" y="1801317"/>
            <a:ext cx="3514725" cy="2477095"/>
          </a:xfrm>
          <a:prstGeom prst="roundRect">
            <a:avLst>
              <a:gd name="adj" fmla="val 287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830164" y="1977331"/>
            <a:ext cx="508993" cy="508993"/>
          </a:xfrm>
          <a:prstGeom prst="roundRect">
            <a:avLst>
              <a:gd name="adj" fmla="val 149692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61" y="2117328"/>
            <a:ext cx="228997" cy="228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0163" y="2655987"/>
            <a:ext cx="3162697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Reinforce High-Demand Corridors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830163" y="3288010"/>
            <a:ext cx="3162697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staffing and maintenance. Implement real-time congestion management.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4338538" y="1801317"/>
            <a:ext cx="3514725" cy="2477095"/>
          </a:xfrm>
          <a:prstGeom prst="roundRect">
            <a:avLst>
              <a:gd name="adj" fmla="val 287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0" name="Shape 7"/>
          <p:cNvSpPr/>
          <p:nvPr/>
        </p:nvSpPr>
        <p:spPr>
          <a:xfrm>
            <a:off x="4514553" y="1977331"/>
            <a:ext cx="508993" cy="508993"/>
          </a:xfrm>
          <a:prstGeom prst="roundRect">
            <a:avLst>
              <a:gd name="adj" fmla="val 149692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4550" y="2117328"/>
            <a:ext cx="228997" cy="2289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4552" y="2655987"/>
            <a:ext cx="3162697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Utilize Forecasting Models Proactively</a:t>
            </a:r>
            <a:endParaRPr lang="en-US" sz="1667" dirty="0"/>
          </a:p>
        </p:txBody>
      </p:sp>
      <p:sp>
        <p:nvSpPr>
          <p:cNvPr id="13" name="Text 9"/>
          <p:cNvSpPr/>
          <p:nvPr/>
        </p:nvSpPr>
        <p:spPr>
          <a:xfrm>
            <a:off x="4514552" y="3288010"/>
            <a:ext cx="3162697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the web app for staffing, incident response, and maintenance planning.</a:t>
            </a:r>
            <a:endParaRPr lang="en-US" sz="1333" dirty="0"/>
          </a:p>
        </p:txBody>
      </p:sp>
      <p:sp>
        <p:nvSpPr>
          <p:cNvPr id="14" name="Shape 10"/>
          <p:cNvSpPr/>
          <p:nvPr/>
        </p:nvSpPr>
        <p:spPr>
          <a:xfrm>
            <a:off x="8022928" y="1801317"/>
            <a:ext cx="3514824" cy="2477095"/>
          </a:xfrm>
          <a:prstGeom prst="roundRect">
            <a:avLst>
              <a:gd name="adj" fmla="val 287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5" name="Shape 11"/>
          <p:cNvSpPr/>
          <p:nvPr/>
        </p:nvSpPr>
        <p:spPr>
          <a:xfrm>
            <a:off x="8198942" y="1977331"/>
            <a:ext cx="508993" cy="508993"/>
          </a:xfrm>
          <a:prstGeom prst="roundRect">
            <a:avLst>
              <a:gd name="adj" fmla="val 149692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8939" y="2117328"/>
            <a:ext cx="228997" cy="2289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98942" y="2655987"/>
            <a:ext cx="3162796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Enhance Toll Violation Enforcement</a:t>
            </a:r>
            <a:endParaRPr lang="en-US" sz="1667" dirty="0"/>
          </a:p>
        </p:txBody>
      </p:sp>
      <p:sp>
        <p:nvSpPr>
          <p:cNvPr id="18" name="Text 13"/>
          <p:cNvSpPr/>
          <p:nvPr/>
        </p:nvSpPr>
        <p:spPr>
          <a:xfrm>
            <a:off x="8198942" y="3288010"/>
            <a:ext cx="316279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violation spikes for enforcement. Prevent bottlenecks and ensure revenue.</a:t>
            </a:r>
            <a:endParaRPr lang="en-US" sz="1333" dirty="0"/>
          </a:p>
        </p:txBody>
      </p:sp>
      <p:sp>
        <p:nvSpPr>
          <p:cNvPr id="19" name="Shape 14"/>
          <p:cNvSpPr/>
          <p:nvPr/>
        </p:nvSpPr>
        <p:spPr>
          <a:xfrm>
            <a:off x="654150" y="4448076"/>
            <a:ext cx="5356919" cy="1940520"/>
          </a:xfrm>
          <a:prstGeom prst="roundRect">
            <a:avLst>
              <a:gd name="adj" fmla="val 367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0" name="Shape 15"/>
          <p:cNvSpPr/>
          <p:nvPr/>
        </p:nvSpPr>
        <p:spPr>
          <a:xfrm>
            <a:off x="830164" y="4624090"/>
            <a:ext cx="508993" cy="508993"/>
          </a:xfrm>
          <a:prstGeom prst="roundRect">
            <a:avLst>
              <a:gd name="adj" fmla="val 149692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0161" y="4764087"/>
            <a:ext cx="228997" cy="22899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0163" y="5302746"/>
            <a:ext cx="2292945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Expand Data Collection</a:t>
            </a:r>
            <a:endParaRPr lang="en-US" sz="1667" dirty="0"/>
          </a:p>
        </p:txBody>
      </p:sp>
      <p:sp>
        <p:nvSpPr>
          <p:cNvPr id="23" name="Text 17"/>
          <p:cNvSpPr/>
          <p:nvPr/>
        </p:nvSpPr>
        <p:spPr>
          <a:xfrm>
            <a:off x="830163" y="5669657"/>
            <a:ext cx="500489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Gather historical toll data, origin-destination, and granular logs for better forecasts.</a:t>
            </a:r>
            <a:endParaRPr lang="en-US" sz="1333" dirty="0"/>
          </a:p>
        </p:txBody>
      </p:sp>
      <p:sp>
        <p:nvSpPr>
          <p:cNvPr id="24" name="Shape 18"/>
          <p:cNvSpPr/>
          <p:nvPr/>
        </p:nvSpPr>
        <p:spPr>
          <a:xfrm>
            <a:off x="6180733" y="4448076"/>
            <a:ext cx="5357019" cy="1940520"/>
          </a:xfrm>
          <a:prstGeom prst="roundRect">
            <a:avLst>
              <a:gd name="adj" fmla="val 367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5" name="Shape 19"/>
          <p:cNvSpPr/>
          <p:nvPr/>
        </p:nvSpPr>
        <p:spPr>
          <a:xfrm>
            <a:off x="6356747" y="4624090"/>
            <a:ext cx="508993" cy="508993"/>
          </a:xfrm>
          <a:prstGeom prst="roundRect">
            <a:avLst>
              <a:gd name="adj" fmla="val 14969254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96744" y="4764087"/>
            <a:ext cx="228997" cy="22899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56747" y="5302746"/>
            <a:ext cx="304710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 for Exogenous Factors</a:t>
            </a:r>
            <a:endParaRPr lang="en-US" sz="1667" dirty="0"/>
          </a:p>
        </p:txBody>
      </p:sp>
      <p:sp>
        <p:nvSpPr>
          <p:cNvPr id="28" name="Text 21"/>
          <p:cNvSpPr/>
          <p:nvPr/>
        </p:nvSpPr>
        <p:spPr>
          <a:xfrm>
            <a:off x="6356747" y="5669657"/>
            <a:ext cx="500499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Incorporate external events and policy shifts into future analyses for precision.</a:t>
            </a:r>
            <a:endParaRPr lang="en-US" sz="1333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C5590D7-8D1F-0B54-DD70-FFAAB40E0F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34472" y="6466530"/>
            <a:ext cx="1457528" cy="3715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62EE877E-B71A-42D4-B864-50C400D4904E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WW0/bMBT+K1Ve2KQK5dKmCW/QgYY0JgSIPUxoOrFPWoMbV44DdFX/+85x0gHjIiamiU3kJfHx58/n+inLQKp6rmHxGWYYbAU7xlzMwF70kqAfVK0tklmSyTSCLA1FnA3zMMlo18ydMlUdbC0DB3aC7lTVDWgmIuPXs34AWh/ChFcl6Br7wRxtbSrQ6ju2YNpytsFVP8DruTYWmPLYgUOmvSQ4rdmFTfYHhFOXeIzCtVYhExGVZRqLNE8hTZKkTAlWtwDv2YMQpvbXj03lQFV0DduSQkAGcpCGOCxHZRqJLGF7qbTrIMVi93puKbrlOjnxIM6hKGUSFYORSIdhmOTkg1vMeXdMkUyMVQI0GVsi5jldRxb3gz1rZp6xK4El5G7llFvQ4ggnFmvG9g6MRN3bQ3CNxd7+bG6sg0ogwU/8beGKcv5lihY9HQUnVZsp4jaOX+x9S8er/equre7O6WZW3Ucfm8YKPMLyZuG9XVH1Dq2h2nqPT8EqKDSSndw5Bd34diDiT4qip0Rw/Gwm8IakBH2bURmmG3zgbMXPWdsPt+5+lk+/lbTHve4HU3M1tnQEJSe1v1xXc1te8lkZ/Ore9oQunMA62bt/1/cDhJoRpmQQDUnv3YlxoHvbRb3ZGxssy833/tBeU3WzE96Pk7Neq2qiu9m8GZO2vQLhAxlPwToe/+Kc5oyngs4ZK9HuLHz/fFB2PaHU3bv/fqK4j1vpIa7zW+LSTffi+WPzh1qUS9XpNrPOiIEAUyUlVrRNuwKzNC2zsIA0ToayKPIsZuiTBQYf2k7jHLl+p8JMGaXlCEQiMM5DjGUUFtF/I4+vRQmvEC9MuUCwXg77j2D3QChNGXgS9NFoJeFpzMFP5X0M4d1a05y9ifObOL+uRL1Gcea9EYSDUQYQZXkxgizOsYAXCnCCo0EyjJMCc0HaXkQwjF5E6VlvLMEM6TeeP0zjaioBHkLViuW8jVShx9F8QSW5Mf23l+wHtMP/9AfdHx09PwAy38zGbAwAAA==&quot;"/>
    <we:property name="creatorSessionId" value="&quot;a59da4c9-6bb3-457a-bffb-b70011928288&quot;"/>
    <we:property name="creatorTenantId" value="&quot;3c71cbab-b5ed-4f3b-ac0d-95509d6c0e93&quot;"/>
    <we:property name="creatorUserId" value="&quot;10032003AEE3A9D4&quot;"/>
    <we:property name="datasetId" value="&quot;3fcdb421-b1b4-4063-a051-b39a668493c8&quot;"/>
    <we:property name="embedUrl" value="&quot;/reportEmbed?reportId=0613af68-0f18-45ae-93a7-0fa3540676a0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6WUS2vcMBSF/0rReih6P7JLSldpHjQlmxDKlXQ1uPHYxtaESYf575U8A1m0dCDeWNbx1XeOLubuSWymoYW3W9gguSBXff+ygfHlkyAr0p20u7vrm8vv1z9vL2++FrkfctN3E7nYkwzjGvNjM22hrYQiPj2vCLTtPazrLkE74YoMOE59B23zG4/F5VMet3hYEdwNbT9CRT5kyFixr6W87Is3+1yDQMjNKz5gyEeVM6q9VzFFZIZyg1qbUjYdC+Zk/yyp6Nn+S99laLpiU7VkwHoRteJMBxchWEqrPjXduj0Ffj/7422oXcm4y77f1X74X8W4kg6HcqEorAxRB2+FN8EbDtR8nAYhOGdLPE5F5OhZBPZxGrWSWU2Zkgm4CDZGo87SYO7q1Tbn0vy/kFYwEYISFDRjyUcVtViIZCY46YWUmiotg6Oew0Jk8IDeaYM+GstQO2P9QmQUQgluuJKmXN06JuPSlNIJlsB5ZyKVUjHH2OKU1GjFkvaJQUTQypq4EInOKc5pWRhnSYAHFRYilaMOvVEYtVUaUhD8/F/+P+RMfVfIBsugqi/9Nk8DBLyHruyf9mQY+zKdcoNzXZlG0EWMp/exrt+ajOPR/xHabbWexxqZTUqkxrd45kAddmSO9VwffwAng8xWdwUAAA==&quot;"/>
    <we:property name="isFiltersActionButtonVisible" value="true"/>
    <we:property name="isVisualContainerHeaderHidden" value="false"/>
    <we:property name="pageDisplayName" value="&quot;Top 5 Factors&quot;"/>
    <we:property name="pageName" value="&quot;cd3c1ff62c696a6333f6&quot;"/>
    <we:property name="pptInsertionSessionID" value="&quot;148DB2DF-8838-4F39-B427-F208375A7911&quot;"/>
    <we:property name="reportEmbeddedTime" value="&quot;2025-11-15T19:46:45.938Z&quot;"/>
    <we:property name="reportName" value="&quot;Fall 2025_6900_01_Group 1_Dashboard&quot;"/>
    <we:property name="reportState" value="&quot;CONNECTED&quot;"/>
    <we:property name="reportUrl" value="&quot;/groups/me/reports/0613af68-0f18-45ae-93a7-0fa3540676a0/cd3c1ff62c696a6333f6?bookmarkGuid=9419b747-19ce-4aea-a081-9c48ff145b3b&amp;bookmarkUsage=1&amp;ctid=3c71cbab-b5ed-4f3b-ac0d-95509d6c0e93&amp;fromEntryPoint=export&amp;pbi_source=storytelling_addin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2EE877E-B71A-42D4-B864-50C400D4904E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Y227bOBD9FUMvfTEWknXPW+Kk2AXSIrsJsggKP4zIUcyGFg2KTusN/O87JGXXdRynN7eFET8Y1syYPHPmaHh5CLhopxLmb2GCwVFwotTdBPRdLw76QeNtLEzDvK5SZGVZVXGJ4cB61dQI1bTB0UNgQN+iuRbtDKQdiIzvRv0ApLyAW/tUg2yxH0xRt6oBKf5DH0wuo2e46Af4cSqVBjvkpQGDdth7CqdnghD9YWcEZsQ9XiIz3prxAhlPCizqfJBHIU+rmsJaH+CQbQ2xQ7vph6oxIBqaxtpqFpZJmCKPkzzOeY1xkTu7kKYLqeZnH6easqOc51NLzpCw3iotGMjAZaGx9aAfgqGSs4n7dfaZ/VLNNMN/0CE5a4wwcxrpWMrea2BCCiOIswWRcqEVUea8V2KCPcJLnBjkzjtWH4YawT4ehYv+CtIxv4eGkXUTzxuEdqbxxwA6JiRU3N61UBI837tA/SyeOs+85wT9GNGILK1obmWnwE9iuPJAWwPsDvkx/WU4Bm2s0qv3JCkrAPqz0hz1ydxp4FTopRij/gb4vRZ/MVq+DRT1fk3vHc0e3l4hjBY2AmqIMM8SHmeQcIxYEpXPvjMvAt0h0C94j/8UlJlm4/k53qN8DGvlf+xaArkGLXyzdSl8R2rdwrEaMPgs21Pbym3YGiZn7H0yWHeXSXCDoL+5TAfMy98zakX4Qs0Wat7QIj5+eZE2WDmF+T5Wv+cXnQPmdNmcDjrJtU5z0Hmu2sZBZ+nbgN+r0bEti4siyaskjEI2yHkS/jbnm+/ft0vBSLbr/SqYIJ1L7Q8OBlxWUz+jBWD9ijs3uqQfgnNBRPixr0HO7LCvTqAV7JXdczsen2iBLrz94bvuTVZ8IYs6jJMySqIIeMzDPGRx8fsVkiYc+2XhpZo7qPElrbNBVeQRpGXOOQ8xTzB7uqTdxQwWUJQZ53WRlIyztIQ4I8q2FtwP5JJb3qoM+sFrrSZuxK7rAEU+lUw/8LUJ7eHz3zHac5ojqOHCdKy8VeYxVX9t0PcVxC67KQHb4PLGrlAEZFWqd1sLPggH6bmNHHUl36f0b7btz3+d1NF8QGx+ldh9gZy4q6IGDkAap+8yh7Ku62f71c+5JLhSBuTuK4JnC8hA8y+8JRps3hLtOxlf9yytElru8zQvIqxKVhSxu6XZmRY4zCczY9wmZC0999muVzUz7RQYXkCDW3RLlYSGW153atddF690u1j8D1GtCgumFgAA&quot;"/>
    <we:property name="creatorSessionId" value="&quot;a59da4c9-6bb3-457a-bffb-b70011928288&quot;"/>
    <we:property name="creatorTenantId" value="&quot;3c71cbab-b5ed-4f3b-ac0d-95509d6c0e93&quot;"/>
    <we:property name="creatorUserId" value="&quot;10032003AEE3A9D4&quot;"/>
    <we:property name="datasetId" value="&quot;3fcdb421-b1b4-4063-a051-b39a668493c8&quot;"/>
    <we:property name="embedUrl" value="&quot;/reportEmbed?reportId=0613af68-0f18-45ae-93a7-0fa3540676a0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6WUS2vcMBSF/0rReih6P7JLSldpHjQlmxDKlXQ1uPHYxtaESYf575U8A1m0dCDeWNbx1XeOLubuSWymoYW3W9gguSBXff+ygfHlkyAr0p20u7vrm8vv1z9vL2++FrkfctN3E7nYkwzjGvNjM22hrYQiPj2vCLTtPazrLkE74YoMOE59B23zG4/F5VMet3hYEdwNbT9CRT5kyFixr6W87Is3+1yDQMjNKz5gyEeVM6q9VzFFZIZyg1qbUjYdC+Zk/yyp6Nn+S99laLpiU7VkwHoRteJMBxchWEqrPjXduj0Ffj/7422oXcm4y77f1X74X8W4kg6HcqEorAxRB2+FN8EbDtR8nAYhOGdLPE5F5OhZBPZxGrWSWU2Zkgm4CDZGo87SYO7q1Tbn0vy/kFYwEYISFDRjyUcVtViIZCY46YWUmiotg6Oew0Jk8IDeaYM+GstQO2P9QmQUQgluuJKmXN06JuPSlNIJlsB5ZyKVUjHH2OKU1GjFkvaJQUTQypq4EInOKc5pWRhnSYAHFRYilaMOvVEYtVUaUhD8/F/+P+RMfVfIBsugqi/9Nk8DBLyHruyf9mQY+zKdcoNzXZlG0EWMp/exrt+ajOPR/xHabbWexxqZTUqkxrd45kAddmSO9VwffwAng8xWdwUAAA==&quot;"/>
    <we:property name="isFiltersActionButtonVisible" value="true"/>
    <we:property name="isVisualContainerHeaderHidden" value="false"/>
    <we:property name="pageDisplayName" value="&quot;Toll Violators&quot;"/>
    <we:property name="pageName" value="&quot;6d8ecd48e8f72710d5bf&quot;"/>
    <we:property name="pptInsertionSessionID" value="&quot;148DB2DF-8838-4F39-B427-F208375A7911&quot;"/>
    <we:property name="reportEmbeddedTime" value="&quot;2025-11-15T19:46:45.938Z&quot;"/>
    <we:property name="reportName" value="&quot;Fall 2025_6900_01_Group 1_Dashboard&quot;"/>
    <we:property name="reportState" value="&quot;CONNECTED&quot;"/>
    <we:property name="reportUrl" value="&quot;/groups/me/reports/0613af68-0f18-45ae-93a7-0fa3540676a0/6d8ecd48e8f72710d5bf?bookmarkGuid=9419b747-19ce-4aea-a081-9c48ff145b3b&amp;bookmarkUsage=1&amp;ctid=3c71cbab-b5ed-4f3b-ac0d-95509d6c0e93&amp;fromEntryPoint=export&amp;pbi_source=storytelling_addin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2EE877E-B71A-42D4-B864-50C400D4904E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X328TORD+VyK/8BKdvN7ffWtzICEBqq5VEUJ9mPWOE4OzjrxOIVft/35j75aDXFpAIoWTyFN2ZjL+5vu+qbe3rNX9xsDuFayRnbAza9+vwb2fpWzOujHWyDaty6ZKspLzuhJpLivK2o3XtuvZyS3z4Jbor3S/BRMaUfDt9ZyBMeewDE8KTI9ztkHX2w6M/hvHYkp5t8VhzvDjxlgHoeWFB4+h7Q2V0zNBSP4IeEB6fYMXKP0YVbXiQtTQyLTIizJvRZ1TWT8WRGQHS0LrePzCdh50R8fEWt6i4jW2RYYcq6ySEmJcGz+VNLunHzeOpqOZd5tAzoKwLq3TEgyLUzjsR9C3bGHNdh2/Pf0ifmG3TuJfqGKq89rvqNOpMbNnILXRXhNnA5Fy7ixRFrNTZjeLQoXkyn5YOKTjW3bCh/mjI7rUa5wRg6RSwPAQpNP2BjpJ0X08LxH6rcMfA+iUkJDdZpcOlNLyAKJrivS6W5rJfv864XIEKiM/ixU4HxzevCMrBeHpd9a16M52Ufs/tbszYTLfQ35Uiofruy2gqnef+XwSfYR3VAjXQ6hIG5XlpYK8goIrnqeZkF/dlXtt8CMBv6SdXv0SC/LtK/tY+7GcRXbMbnZpPU3/KBsi9jfk6EM9/pbcmW5cDiVEDlXRFgnPhEjqvGr5/csx3bJ0rQIvVSWwSBRPpchKJIYPenZsFPpc3V2RxPIzZ9ex43SXA1Xeh3/ORj154Or1CoMckZOu1X4i4pX1/2Xn+R5j/bdzOT5EYHv0vXEsinYFZhtfHqjlC00jjgaM4UARF/mLUBloHqJXj7e9EdN3r0dvtCRlPt8MtkZ6OwpfWvAQ6dqMx4RTQ962MY3REQcnf3KG/gNi94RNkw/3OPwTg0cgYzR3WdSVxLwoWtUWqmgaLov/zVvSz9MPei1/lnr7rExCgmiKspYFJHWRlWmdiezXE5IOXI1/s3+r+QA1o6SYCJHKpM5UxlUDtUpFEjo/SBJExGdb7wnTF1d6/Bwmz259vwGJ59DhARKJPOjaoNKDRMZ/Cz/ROAz/AHj9TzqODgAA&quot;"/>
    <we:property name="creatorSessionId" value="&quot;a59da4c9-6bb3-457a-bffb-b70011928288&quot;"/>
    <we:property name="creatorTenantId" value="&quot;3c71cbab-b5ed-4f3b-ac0d-95509d6c0e93&quot;"/>
    <we:property name="creatorUserId" value="&quot;10032003AEE3A9D4&quot;"/>
    <we:property name="datasetId" value="&quot;3fcdb421-b1b4-4063-a051-b39a668493c8&quot;"/>
    <we:property name="embedUrl" value="&quot;/reportEmbed?reportId=0613af68-0f18-45ae-93a7-0fa3540676a0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6WUS2vcMBSF/0rReih6P7JLSldpHjQlmxDKlXQ1uPHYxtaESYf575U8A1m0dCDeWNbx1XeOLubuSWymoYW3W9gguSBXff+ygfHlkyAr0p20u7vrm8vv1z9vL2++FrkfctN3E7nYkwzjGvNjM22hrYQiPj2vCLTtPazrLkE74YoMOE59B23zG4/F5VMet3hYEdwNbT9CRT5kyFixr6W87Is3+1yDQMjNKz5gyEeVM6q9VzFFZIZyg1qbUjYdC+Zk/yyp6Nn+S99laLpiU7VkwHoRteJMBxchWEqrPjXduj0Ffj/7422oXcm4y77f1X74X8W4kg6HcqEorAxRB2+FN8EbDtR8nAYhOGdLPE5F5OhZBPZxGrWSWU2Zkgm4CDZGo87SYO7q1Tbn0vy/kFYwEYISFDRjyUcVtViIZCY46YWUmiotg6Oew0Jk8IDeaYM+GstQO2P9QmQUQgluuJKmXN06JuPSlNIJlsB5ZyKVUjHH2OKU1GjFkvaJQUTQypq4EInOKc5pWRhnSYAHFRYilaMOvVEYtVUaUhD8/F/+P+RMfVfIBsugqi/9Nk8DBLyHruyf9mQY+zKdcoNzXZlG0EWMp/exrt+ajOPR/xHabbWexxqZTUqkxrd45kAddmSO9VwffwAng8xWdwUAAA==&quot;"/>
    <we:property name="isFiltersActionButtonVisible" value="true"/>
    <we:property name="isVisualContainerHeaderHidden" value="false"/>
    <we:property name="pageDisplayName" value="&quot;Busiest Times a&quot;"/>
    <we:property name="pageName" value="&quot;f9f0229abc365675d295&quot;"/>
    <we:property name="pptInsertionSessionID" value="&quot;148DB2DF-8838-4F39-B427-F208375A7911&quot;"/>
    <we:property name="reportEmbeddedTime" value="&quot;2025-11-15T19:46:45.938Z&quot;"/>
    <we:property name="reportName" value="&quot;Fall 2025_6900_01_Group 1_Dashboard&quot;"/>
    <we:property name="reportState" value="&quot;CONNECTED&quot;"/>
    <we:property name="reportUrl" value="&quot;/groups/me/reports/0613af68-0f18-45ae-93a7-0fa3540676a0/f9f0229abc365675d295?bookmarkGuid=9419b747-19ce-4aea-a081-9c48ff145b3b&amp;bookmarkUsage=1&amp;ctid=3c71cbab-b5ed-4f3b-ac0d-95509d6c0e93&amp;fromEntryPoint=export&amp;pbi_source=storytelling_addin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62EE877E-B71A-42D4-B864-50C400D4904E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aTU/jSBD9K8gXLmHlr/iDG4RhZ3ZhhQCxhxFC5e4y6cGxo3abnSzKf9/qbieE4ICGHWY8CE5xVbn61auy+9nmzuGinhYw+wsm6Ow6+1V1MwF5sxU4A6e0tmAYh2meMTdx3SxhPgt8j7zVVImqrJ3dO0eBvEZ1IeoGCp2IjJ8vBw4UxQlc66McihoHzhRlXZVQiH/RBpNLyQbnAwe/TotKgk55pkChTntL4XRMELzfNB5gStziGTJlregPgywBL2axDzlkeQYaWG0DDLLOEJ3aLD+qSgWipGW0zfOHPA6Z67luwALMQxYl2p6LQrUh2ezD16mk6qjm2VSTMyKs15UUDArHVCGxtqDvnFFVNBPz68MD+1nVSIanmBtXqYSaUaZTvMWyIbbmRMeJrIgsYz/cG1397hvruPpnJJFW5M6uO78kSy3K66Il876uc4utLgRDqVuVfSFOTAUTpFbpHxwUmEKmdimB1l9x40ZT551zJKh2m/sCikan3d6HWrBtQkR/lxqXbQxh/rJCvQmvzRLfmQhakzwpYgTe0I05ehl3MY6S4Nl27fFbKBnxt96rY4S6kfh/Mbb2rVEBdb3ldXRt8EuMDiuamlhEboGMxiDVg0GiBJXkKPdnht4DIReXpT9Yw/xq1M4vN4xey+zs9YbPTzEK0cU0ZhjxHHiaQ5/vFYOfdQU8fQn8WDB9IiboEZawR1iGPcIS9QhL3CMsSY+wpC/a3fq6qf3sXS1K4sRNgEVBmLtACjjLe7CrnYsJMVSV9DygO9xnJbxhfLz18XklYjbOzncX44+WbifIQ84hAJfHAJ7HvTSPejBBJwg3Vx/plF4Pz4/p3CoX7ZNUmqRZADGjZmUeBnnMnxezfXqSete0vcDyrmnfNe27pn3XtB0vaow2IDXJWOb5AaZhxuJkyMJH24x9D037KiYh5CzME+5H6JKSSExw+0660z3oFhQ2v9lLFy+UqfRDWU0MI+2bbx25LO2oolMPKMs5ZAVepWnoAgvTHS9Nkp2Q+clOGjG2Q0o5jIcuBgno1W0nXC3C/h6jJtJs2iUXqiXy09ru/Q37uj0wQNf4Pq5KNXaM9luKhc/dkuMPKBuQs20TvSHmEDP5bNAxSDZ+MmJvKkXxTA67xqUZkPUr66OgE2iR2RGNU/GYnKX/sWvBzQVIYb8otNy9YK7b6Vimch5Qr0fEhK2gMcate4N2tzUsW7V2dQ8cBmyM/OD+W4ydDME1sprRgp+4lcOTKUGpF+J4cfSnKG2iI8zVt+vml8z7hikcOKfieqw2id6VCTTa8+Hnp9br6Fvv26t99crqKH7hfqPVL28ZHaUb3xute3kj7Kjb+N5o3e3tvbPbNOP20fPXePB+03uRbcTQG6aZF7seC1zkCQa+65uJfKpBYNjab5QyYFZEZ9v3rsZVjaqnwPAESuxoIDUOSo78mSaa/yhYtnA+/w/GFsawySAAAA==&quot;"/>
    <we:property name="creatorSessionId" value="&quot;a59da4c9-6bb3-457a-bffb-b70011928288&quot;"/>
    <we:property name="creatorTenantId" value="&quot;3c71cbab-b5ed-4f3b-ac0d-95509d6c0e93&quot;"/>
    <we:property name="creatorUserId" value="&quot;10032003AEE3A9D4&quot;"/>
    <we:property name="datasetId" value="&quot;3fcdb421-b1b4-4063-a051-b39a668493c8&quot;"/>
    <we:property name="embedUrl" value="&quot;/reportEmbed?reportId=0613af68-0f18-45ae-93a7-0fa3540676a0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6WUS2vcMBSF/0rReih6P7JLSldpHjQlmxDKlXQ1uPHYxtaESYf575U8A1m0dCDeWNbx1XeOLubuSWymoYW3W9gguSBXff+ygfHlkyAr0p20u7vrm8vv1z9vL2++FrkfctN3E7nYkwzjGvNjM22hrYQiPj2vCLTtPazrLkE74YoMOE59B23zG4/F5VMet3hYEdwNbT9CRT5kyFixr6W87Is3+1yDQMjNKz5gyEeVM6q9VzFFZIZyg1qbUjYdC+Zk/yyp6Nn+S99laLpiU7VkwHoRteJMBxchWEqrPjXduj0Ffj/7422oXcm4y77f1X74X8W4kg6HcqEorAxRB2+FN8EbDtR8nAYhOGdLPE5F5OhZBPZxGrWSWU2Zkgm4CDZGo87SYO7q1Tbn0vy/kFYwEYISFDRjyUcVtViIZCY46YWUmiotg6Oew0Jk8IDeaYM+GstQO2P9QmQUQgluuJKmXN06JuPSlNIJlsB5ZyKVUjHH2OKU1GjFkvaJQUTQypq4EInOKc5pWRhnSYAHFRYilaMOvVEYtVUaUhD8/F/+P+RMfVfIBsugqi/9Nk8DBLyHruyf9mQY+zKdcoNzXZlG0EWMp/exrt+ajOPR/xHabbWexxqZTUqkxrd45kAddmSO9VwffwAng8xWdwUAAA==&quot;"/>
    <we:property name="isFiltersActionButtonVisible" value="true"/>
    <we:property name="isVisualContainerHeaderHidden" value="false"/>
    <we:property name="pageDisplayName" value="&quot;Revenues Analysis&quot;"/>
    <we:property name="pageName" value="&quot;e253b8a17c72afabfba1&quot;"/>
    <we:property name="pptInsertionSessionID" value="&quot;148DB2DF-8838-4F39-B427-F208375A7911&quot;"/>
    <we:property name="reportEmbeddedTime" value="&quot;2025-11-15T19:46:45.938Z&quot;"/>
    <we:property name="reportName" value="&quot;Fall 2025_6900_01_Group 1_Dashboard&quot;"/>
    <we:property name="reportState" value="&quot;CONNECTED&quot;"/>
    <we:property name="reportUrl" value="&quot;/groups/me/reports/0613af68-0f18-45ae-93a7-0fa3540676a0/e253b8a17c72afabfba1?bookmarkGuid=9419b747-19ce-4aea-a081-9c48ff145b3b&amp;bookmarkUsage=1&amp;ctid=3c71cbab-b5ed-4f3b-ac0d-95509d6c0e93&amp;fromEntryPoint=export&amp;pbi_source=storytelling_addin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62EE877E-B71A-42D4-B864-50C400D4904E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YbW/bNhD+Kwa/5Is8SJZkWfnWOAlaLB2y2sgwFIFxIk82W72BotJ6gf/7jpTk2EmaJgXaZU0BA5aOR/J57o4PSV0zIesqg/UfkCM7ZEdl+TEH9XHgM4cVrS2FeOxOBPpeIqIAfEw8oNay0rIsanZ4zTSoJeoLWTeQmYHI+P7SYZBl57A0bylkNTqsQlWXBWTyH2ydqUmrBjcOw89VViowQ840aDTDXpE7vRME7zeDB7iWVzhDrjur5wVhIuIkAs6j0E3TJCW3unWwyO51MUPb6adloUEWNI2x+aFI3GQ8gfEoQN+fcOJt7KnMdOeSrE8+V4rYEed1ZYIzJazLUkkOGbMsFNYt6Gs2LbMmt08ne/ZZ2SiO79AiOSm01GsayV+sEdQibzItFylwmZF9oRWkqeSLtFTIodZsQ8E6VyWF0vY67RytfVV+miokRIIduhtnC/KVuIKCk/U2wtcSFSi+Wp/hFWZ3kW7b7zb1GC5AyTZtltV3YNuV5nYitheAY1Msxm0HqzUObgymuWPI/qZpHwzWQxl9gfH6swFF5f8rZI8P2VuSldW3Lci3CHWjvgfFHT7zUkM2mLdeg7nMcTBDJUmo72K+JEsti2XWKfaNeM5bKhnp53RFNWK2hOQDaa9Ryk2v1jTthx097iplbSX0BZZGrz4vkvyOlLxI/r0uXG6M1YsihDBOIBrzER8lUeC5/+fjxiOUotazTHKqgMdIxQVkjT1J/nBmbX7CMJyAB3EUpmMXBXCRwrPPz5t6cbrb9FOlaJ9cmyUeQxjFXhDQ6hHhOEjcKHr2WdoKxxPTU99NDcuR7l7mYYl0kTGdiGfVzmW29G0s9p8u+rvVyGGnqsxtt07uzF3rqQwd1mIkFg77a4XmDGPLohBSdyF8VQjzd4apbiOdVySsdR/3/u13afxGzo7jI1LS7wGE/kvRfieXKzvgmdRtqLoSJidBTppOQgcj1xsP3XjoxXPXPbS/A+q91/9h5P5/hnw0Gbrh0PVuId+0i8Vkhpzhngqp6Qavj7trN9rV8m1RotVUiKcNZEAHQ9+9PVBeiq+NcnCE+hNi0dG8NN1KJVAdtQfMY6n6jwWecysFP3Cdm8A/B/3s4HTbmx8HkUt7Whz6UZwiTzC2pfCQAIHFftRobc9COzvEpl0i9wlT2ei6Ao7nUOA9tUf5hUKg+Equ7SckdlPM/wLMnJm2uhIAAA==&quot;"/>
    <we:property name="creatorSessionId" value="&quot;a59da4c9-6bb3-457a-bffb-b70011928288&quot;"/>
    <we:property name="creatorTenantId" value="&quot;3c71cbab-b5ed-4f3b-ac0d-95509d6c0e93&quot;"/>
    <we:property name="creatorUserId" value="&quot;10032003AEE3A9D4&quot;"/>
    <we:property name="datasetId" value="&quot;3fcdb421-b1b4-4063-a051-b39a668493c8&quot;"/>
    <we:property name="embedUrl" value="&quot;/reportEmbed?reportId=0613af68-0f18-45ae-93a7-0fa3540676a0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6WUS2vcMBSF/0rReih6P7JLSldpHjQlmxDKlXQ1uPHYxtaESYf575U8A1m0dCDeWNbx1XeOLubuSWymoYW3W9gguSBXff+ygfHlkyAr0p20u7vrm8vv1z9vL2++FrkfctN3E7nYkwzjGvNjM22hrYQiPj2vCLTtPazrLkE74YoMOE59B23zG4/F5VMet3hYEdwNbT9CRT5kyFixr6W87Is3+1yDQMjNKz5gyEeVM6q9VzFFZIZyg1qbUjYdC+Zk/yyp6Nn+S99laLpiU7VkwHoRteJMBxchWEqrPjXduj0Ffj/7422oXcm4y77f1X74X8W4kg6HcqEorAxRB2+FN8EbDtR8nAYhOGdLPE5F5OhZBPZxGrWSWU2Zkgm4CDZGo87SYO7q1Tbn0vy/kFYwEYISFDRjyUcVtViIZCY46YWUmiotg6Oew0Jk8IDeaYM+GstQO2P9QmQUQgluuJKmXN06JuPSlNIJlsB5ZyKVUjHH2OKU1GjFkvaJQUTQypq4EInOKc5pWRhnSYAHFRYilaMOvVEYtVUaUhD8/F/+P+RMfVfIBsugqi/9Nk8DBLyHruyf9mQY+zKdcoNzXZlG0EWMp/exrt+ajOPR/xHabbWexxqZTUqkxrd45kAddmSO9VwffwAng8xWdwUAAA==&quot;"/>
    <we:property name="isFiltersActionButtonVisible" value="true"/>
    <we:property name="isVisualContainerHeaderHidden" value="false"/>
    <we:property name="pageDisplayName" value="&quot;Forecasts&quot;"/>
    <we:property name="pageName" value="&quot;11145bd9b7acc750ffbf&quot;"/>
    <we:property name="pptInsertionSessionID" value="&quot;148DB2DF-8838-4F39-B427-F208375A7911&quot;"/>
    <we:property name="reportEmbeddedTime" value="&quot;2025-11-15T19:46:45.938Z&quot;"/>
    <we:property name="reportName" value="&quot;Fall 2025_6900_01_Group 1_Dashboard&quot;"/>
    <we:property name="reportState" value="&quot;CONNECTED&quot;"/>
    <we:property name="reportUrl" value="&quot;/groups/me/reports/0613af68-0f18-45ae-93a7-0fa3540676a0/11145bd9b7acc750ffbf?bookmarkGuid=9419b747-19ce-4aea-a081-9c48ff145b3b&amp;bookmarkUsage=1&amp;ctid=3c71cbab-b5ed-4f3b-ac0d-95509d6c0e93&amp;fromEntryPoint=export&amp;pbi_source=storytelling_addin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62EE877E-B71A-42D4-B864-50C400D4904E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6VRPW/DIBT8KxWzVWHjYLtjulZVpFRZogwPeI5oCFiAo6RR/nvBjpShlTp04OMdx93BuxKlw2Dg8g5HJC9k6dzhCP7wxEhB7IzRtlSUN1RwVtKOsjRkOnVD1M4G8nIlEfwe40aHEUwWSuB2VxAwZgX7XPVgAhZkQB+cBaO/cCano+hHvBUEz4NxHrLkOkLELHtK9FSnCOVzzgMy6hOuUcYZZbxSbV32dSNKXoqaVg1PtDATpmS/UrL0ZP/qbARtk03GZMsFxYoi46pjtO+7imU8aLs398CPux+XIX9OxHMU7pz/Q3wm46x0u6UHVaqCltcVUMll26t+oeBPNZiSL8cY0wN/SC5q6KlsmoXigqHgsiq7f0lOqg+EHDH1MW/cGMMAEldgU729ksG71LyoceKlZoFVqO57n9c3HdHP/hswY7aeuk4mm12evgHEFYaNbQIAAA==&quot;"/>
    <we:property name="creatorSessionId" value="&quot;a59da4c9-6bb3-457a-bffb-b70011928288&quot;"/>
    <we:property name="creatorTenantId" value="&quot;3c71cbab-b5ed-4f3b-ac0d-95509d6c0e93&quot;"/>
    <we:property name="creatorUserId" value="&quot;10032003AEE3A9D4&quot;"/>
    <we:property name="datasetId" value="&quot;3fcdb421-b1b4-4063-a051-b39a668493c8&quot;"/>
    <we:property name="embedUrl" value="&quot;/reportEmbed?reportId=0613af68-0f18-45ae-93a7-0fa3540676a0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6WUS2vcMBSF/0rReih6P7JLSldpHjQlmxDKlXQ1uPHYxtaESYf575U8A1m0dCDeWNbx1XeOLubuSWymoYW3W9gguSBXff+ygfHlkyAr0p20u7vrm8vv1z9vL2++FrkfctN3E7nYkwzjGvNjM22hrYQiPj2vCLTtPazrLkE74YoMOE59B23zG4/F5VMet3hYEdwNbT9CRT5kyFixr6W87Is3+1yDQMjNKz5gyEeVM6q9VzFFZIZyg1qbUjYdC+Zk/yyp6Nn+S99laLpiU7VkwHoRteJMBxchWEqrPjXduj0Ffj/7422oXcm4y77f1X74X8W4kg6HcqEorAxRB2+FN8EbDtR8nAYhOGdLPE5F5OhZBPZxGrWSWU2Zkgm4CDZGo87SYO7q1Tbn0vy/kFYwEYISFDRjyUcVtViIZCY46YWUmiotg6Oew0Jk8IDeaYM+GstQO2P9QmQUQgluuJKmXN06JuPSlNIJlsB5ZyKVUjHH2OKU1GjFkvaJQUTQypq4EInOKc5pWRhnSYAHFRYilaMOvVEYtVUaUhD8/F/+P+RMfVfIBsugqi/9Nk8DBLyHruyf9mQY+zKdcoNzXZlG0EWMp/exrt+ajOPR/xHabbWexxqZTUqkxrd45kAddmSO9VwffwAng8xWdwUAAA==&quot;"/>
    <we:property name="isFiltersActionButtonVisible" value="true"/>
    <we:property name="isVisualContainerHeaderHidden" value="false"/>
    <we:property name="pageDisplayName" value="&quot;Deployed Models&quot;"/>
    <we:property name="pageName" value="&quot;362d841f47b161b40276&quot;"/>
    <we:property name="pptInsertionSessionID" value="&quot;148DB2DF-8838-4F39-B427-F208375A7911&quot;"/>
    <we:property name="reportEmbeddedTime" value="&quot;2025-11-15T19:46:45.938Z&quot;"/>
    <we:property name="reportName" value="&quot;Fall 2025_6900_01_Group 1_Dashboard&quot;"/>
    <we:property name="reportState" value="&quot;CONNECTED&quot;"/>
    <we:property name="reportUrl" value="&quot;/groups/me/reports/0613af68-0f18-45ae-93a7-0fa3540676a0/362d841f47b161b40276?bookmarkGuid=9419b747-19ce-4aea-a081-9c48ff145b3b&amp;bookmarkUsage=1&amp;ctid=3c71cbab-b5ed-4f3b-ac0d-95509d6c0e93&amp;fromEntryPoint=export&amp;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569</Words>
  <Application>Microsoft Office PowerPoint</Application>
  <PresentationFormat>Widescreen</PresentationFormat>
  <Paragraphs>89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Raleway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Bizzotto, Giacomo</dc:creator>
  <cp:lastModifiedBy>Bizzotto, Giacomo</cp:lastModifiedBy>
  <cp:revision>34</cp:revision>
  <dcterms:created xsi:type="dcterms:W3CDTF">2025-11-14T21:52:07Z</dcterms:created>
  <dcterms:modified xsi:type="dcterms:W3CDTF">2025-11-21T22:44:21Z</dcterms:modified>
</cp:coreProperties>
</file>